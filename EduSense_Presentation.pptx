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4114800"/>
            <a:ext cx="3200400" cy="32004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572000"/>
            <a:ext cx="2743200" cy="2743200"/>
          </a:xfrm>
          <a:prstGeom prst="ellipse">
            <a:avLst/>
          </a:prstGeom>
          <a:solidFill>
            <a:srgbClr val="06B6D4">
              <a:alpha val="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EduSense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University Management 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29260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420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Presentation · 2025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074920"/>
            <a:ext cx="21214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12064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" y="580644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88336" y="5074920"/>
            <a:ext cx="21214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512064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688336" y="580644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19472" y="5074920"/>
            <a:ext cx="21214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512064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919472" y="580644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50608" y="5074920"/>
            <a:ext cx="21214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512064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150608" y="580644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81744" y="5074920"/>
            <a:ext cx="2121408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1744" y="5120640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381744" y="5806440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Modules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Every stakeholder.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EduSense unifies students, lecturers, admins, and parents under a single AI-driven academic portal.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37490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74520"/>
            <a:ext cx="3749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202082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AI at the Core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8912" y="2423160"/>
            <a:ext cx="3419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emotion &amp; attention detection per student, per lecture. Engagement heatmaps, topic difficulty alerts.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1874520"/>
            <a:ext cx="37490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874520"/>
            <a:ext cx="3749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416552" y="202082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Cross-Device QR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16552" y="2423160"/>
            <a:ext cx="3419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 generates QR on desktop. Student scans with phone. Attendance recorded instantly — no app required.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7490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874520"/>
            <a:ext cx="3749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202082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Arabic RTL Support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2423160"/>
            <a:ext cx="3419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bilingual: English &amp; Arabic. Complete right-to-left layout, translated labels, RTL animations.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114800"/>
            <a:ext cx="37490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114800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426110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Rich Analytics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8912" y="4663440"/>
            <a:ext cx="3419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Charts, trend lines, KPIs — GPA, emotion distribution, attendance patterns, engagement history across all roles.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4114800"/>
            <a:ext cx="37490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4114800"/>
            <a:ext cx="37490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416552" y="426110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Automated Alerts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416552" y="4663440"/>
            <a:ext cx="3419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at-risk (&lt; 75% attendance) receive automatic email alerts. Parents notified in real time.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4114800"/>
            <a:ext cx="37490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4114800"/>
            <a:ext cx="3749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8394192" y="426110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Secure by Design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94192" y="4663440"/>
            <a:ext cx="3419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HTTPS, rate-limited login, JWT-ready backend, role-based access, full audit log for every system action.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 student needs — in one view.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dedicated sections across attendance, academics, wellbeing, and career planning.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6032" y="1874520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1892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GPA, attendance %, emotion score, engagement trend, weekly streak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478024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Attendance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75234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check-in from mobile · manual code entry · history per course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26664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08152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😊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" y="30998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Emotion Analytics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335584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Per-lecture emotion tracking: happy, neutral, confused, bored, and more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30168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68503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" y="3703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 Schedule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395935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timetable with room, time, and lecturer details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233672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288536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43068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" y="456285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charts, attention score history, class rank comparison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837176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892040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8368" y="49103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" y="51663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grades with component breakdown (midterm, final, assignments)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5440680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5495544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58368" y="5513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8368" y="576986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upload, student profile, academic highlights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6044184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609904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58368" y="61173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Chat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8368" y="637336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Course-based messaging — students and lecturers in one thread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82512" y="1874520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784848" y="1892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Appeals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84848" y="21488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appeal → track status → receive admin final decision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0" y="2423160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2478024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784848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Transcript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784848" y="275234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academic record with GPA, exportable as styled PDF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0" y="3026664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2512" y="308152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📢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784848" y="30998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Announcements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784848" y="335584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 notifications per course, pinned and dated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00800" y="3630168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368503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784848" y="3703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Schedule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784848" y="395935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Upcoming exam dates, rooms, and duration per course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00800" y="4233672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2512" y="4288536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6784848" y="43068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Degree Audit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784848" y="456285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Graduation progress — completed vs remaining credits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400800" y="4837176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2512" y="4892040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6784848" y="49103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Resources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784848" y="51663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course materials, lecture notes per module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400800" y="5440680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82512" y="5495544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6784848" y="5513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784848" y="576986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work · plagiarism detection (Jaccard similarity)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400800" y="6044184"/>
            <a:ext cx="5577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82512" y="609904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1700" dirty="0"/>
          </a:p>
        </p:txBody>
      </p:sp>
      <p:sp>
        <p:nvSpPr>
          <p:cNvPr id="67" name="Text 65"/>
          <p:cNvSpPr/>
          <p:nvPr/>
        </p:nvSpPr>
        <p:spPr>
          <a:xfrm>
            <a:off x="6784848" y="61173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Moodle Integration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784848" y="637336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link to university LMS from within the portal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44768" y="1783080"/>
            <a:ext cx="0" cy="48463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 — ADVANCED FEATURES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the basics.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that set EduSense apart from standard university portals.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1874520"/>
            <a:ext cx="37490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874520"/>
            <a:ext cx="3749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201168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GPA Calculator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" y="242316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Interactive course-by-course grade adjustment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816352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Real-time GPA recalculation as you change grades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320954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Circular progress visualisation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3602736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Shows both current and projected GPA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33672" y="1874520"/>
            <a:ext cx="37490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3672" y="1874520"/>
            <a:ext cx="37490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398264" y="201168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 Smart Timetable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98264" y="242316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Weekly grid: Sunday to Thursday, 08:00–18:00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98264" y="2816352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Real-time "now" indicator on current period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98264" y="320954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Course detail modals on click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98264" y="3602736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Colour-coded course legend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11312" y="1874520"/>
            <a:ext cx="37490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11312" y="1874520"/>
            <a:ext cx="3749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8375904" y="201168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🪪 Digital ID Card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75904" y="242316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Flippable card interface (front &amp; back)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75904" y="2816352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QR code encoding full student details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75904" y="320954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Back side shows verification information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75904" y="3602736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Download as PNG with one click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4206240"/>
            <a:ext cx="37490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4206240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" y="434340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Fee History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0624" y="475488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Payment progress visualisation per semester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5148072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Add/mark payment records (admin-editable)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554126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Financial aid breakdown included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5934456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Outstanding balance at a glance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33672" y="4206240"/>
            <a:ext cx="37490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33672" y="4206240"/>
            <a:ext cx="3749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4398264" y="434340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🕐 Office Hours Booking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98264" y="475488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Browse lecturer availability by slot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398264" y="5148072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Book 30-minute appointments instantly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98264" y="554126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Confirmation shown in both portals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98264" y="5934456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Cancellation workflow included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11312" y="4206240"/>
            <a:ext cx="37490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1312" y="4206240"/>
            <a:ext cx="3749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8375904" y="434340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Graduation Roadmap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75904" y="4754880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Semester-by-semester curriculum view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375904" y="5148072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Course status: completed / in-progress / pending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75904" y="554126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Credit tracking and overall progress bar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75904" y="5934456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Expandable course detail per semester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 PORTAL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control of every session.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sections covering live monitoring, grade management, AI analysis, and student engagement.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6032" y="1874520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1892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Session Control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emotion &amp; face recognition per student during lecture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478024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54203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" y="2560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Attendance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81635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per-session QR · track check-ins live · view history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3145536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209544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 Dashboard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348386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Class-wide engagement trends, emotion distribution, attention heatmap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813048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877056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" y="38953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Difficulty Detector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415137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flags lecture sections where student confusion spikes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4480560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54456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45628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Management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" y="481888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calculator: Midterm + Final + Assignments + Attendance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5148072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5212080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📢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8368" y="52303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Announcements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" y="54864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course announcements visible to enrolled students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1783080"/>
            <a:ext cx="0" cy="48463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874520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711696" y="1892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Chat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11696" y="21488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students per course — direct in-portal communication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2478024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542032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711696" y="2560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Analysis Reports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11696" y="281635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analysis: grade distribution, attendance correlation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3145536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209544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711696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Email Alerts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711696" y="348386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low-attendance alert to student email via EmailJS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09360" y="3813048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877056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711696" y="38953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Appeals Management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711696" y="415137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grade appeals: approve, reject, or escalate to admin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9360" y="4480560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454456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711696" y="45628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Hours Calendar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711696" y="481888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available slots · view bookings · manage schedule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09360" y="5148072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5212080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6711696" y="52303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Lecture Polls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711696" y="54864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polls · students vote in real time · see live results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PORTAL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system control — zero blind spots.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management sections covering every operational aspect of the institution.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6032" y="184708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18653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Dashboard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University-wide KPIs, quick actions, system health status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386584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24048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Analytics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264261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comparison, engagement trends, real-time metrics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92608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29443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Management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3182112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/ edit / delete · bulk CSV import · face registration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465576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" y="34838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 Management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372160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accounts, department assignments, course mapping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968496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005072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" y="40233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Management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426110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Create, edit, assign lecturers · manage course metadata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507992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54456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" y="45628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Enrolment Management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480060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Student–course assignments, waitlists, withdrawal processing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5047488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5084064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" y="51023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 &amp; Fees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" y="534009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status per student, payment tracking, financial aid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5586984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562356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" y="56418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History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" y="5879592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financial record, outstanding balances, payment history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6126480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6163056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8368" y="61813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Schedule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8368" y="641908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exams, set rooms, publish results to all students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99632" y="184708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01968" y="18653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Appeals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01968" y="210312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decision authority on all student grade appeals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0" y="2350008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2386584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👨‍👩‍👧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01968" y="24048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Management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01968" y="264261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account creation, child linkage, access control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17920" y="2889504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292608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01968" y="29443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601968" y="3182112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logged: who, what, when — filterable &amp; searchable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17920" y="3429000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9632" y="3465576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🎥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01968" y="34838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Proctoring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601968" y="372160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Webcam monitoring panel: flag violations, review recordings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17920" y="3968496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9632" y="4005072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601968" y="40233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At-Risk Dashboard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601968" y="426110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below 75% attendance — risk scoring: critical/high/medium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17920" y="4507992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99632" y="454456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01968" y="45628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 Analysis Reports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601968" y="480060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reports: grade distributions, attendance correlation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17920" y="5047488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9632" y="5084064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601968" y="51023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Advising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601968" y="534009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Advising appointments, degree audit oversight, advisor notes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217920" y="5586984"/>
            <a:ext cx="5669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99632" y="562356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601968" y="56418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Settings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601968" y="5879592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configuration, branding, notification preferences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163056" y="1783080"/>
            <a:ext cx="0" cy="48463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PORTAL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in the loop — without being in the way.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read-only views giving parents full visibility of their child's academic life.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1847088"/>
            <a:ext cx="374904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847088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9568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35915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academic summary card: GPA, attendance rate, current standing, risk level, and semester progress at a glance.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33672" y="1847088"/>
            <a:ext cx="374904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3672" y="1847088"/>
            <a:ext cx="3749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19568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Grades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70832" y="235915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Course-by-course grade breakdown with component details (midterm, final, assignments). Colour-coded by performance.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11312" y="1847088"/>
            <a:ext cx="374904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1847088"/>
            <a:ext cx="3749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348472" y="19568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Attendance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48472" y="2359152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percentage per course. Visual indicator when a course drops below the 75% threshold.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3511296"/>
            <a:ext cx="374904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511296"/>
            <a:ext cx="37490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36210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Exam Schedule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" y="402336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Upcoming exam dates, rooms, and timings — keeping parents informed before every exam period.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33672" y="3511296"/>
            <a:ext cx="374904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33672" y="3511296"/>
            <a:ext cx="3749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370832" y="36210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Academic Alerts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70832" y="402336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risk notifications. Automatic alert when attendance falls below 75% or academic standing changes.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11312" y="3511296"/>
            <a:ext cx="374904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11312" y="3511296"/>
            <a:ext cx="3749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8348472" y="36210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Performance Trends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48472" y="402336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GPA trajectory over the semester. Engagement and attention trend charts per subject.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5175504"/>
            <a:ext cx="374904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5175504"/>
            <a:ext cx="374904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" y="5285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😊 Emotion Report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93192" y="568756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Classroom emotion summary — shows how the child is feeling during lectures over time.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33672" y="5175504"/>
            <a:ext cx="374904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33672" y="5175504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370832" y="5285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 Lecture Schedule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70832" y="568756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timetable view — days, times, and rooms so parents know when their child should be in class.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11312" y="5175504"/>
            <a:ext cx="374904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11312" y="5175504"/>
            <a:ext cx="3749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8348472" y="5285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Child Risk Status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48472" y="568756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warning assessment: risk score (critical / high / medium / low), intervention flags, and recommended actions.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Cross-Device QR Attendance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shared network. No app install. Works instantly on any smartphone.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773936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7739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" y="2368296"/>
            <a:ext cx="0" cy="35661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737360"/>
            <a:ext cx="107899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737360"/>
            <a:ext cx="4572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18105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 generates QR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176272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unique URL is encoded in the QR containing session data: course ID, week number, and creation timestamp.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7614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1500" y="3355848"/>
            <a:ext cx="0" cy="35661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24912"/>
            <a:ext cx="107899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724912"/>
            <a:ext cx="457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2798064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scans on mobile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16382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camera opens the URL in a mobile browser. No app install, no prior login required on the phone.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749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71500" y="4343400"/>
            <a:ext cx="0" cy="35661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3712464"/>
            <a:ext cx="107899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3712464"/>
            <a:ext cx="4572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378561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survives the login redirect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415137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payload is saved to sessionStorage before login, so it persists through the authentication step seamlessly.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736592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7365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71500" y="5330952"/>
            <a:ext cx="0" cy="35661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" y="4700016"/>
            <a:ext cx="107899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1560" y="4700016"/>
            <a:ext cx="4572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234440" y="47731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check-in executes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34440" y="5138928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login, the student portal detects the pending QR and marks attendance automatically. QR expires after 90 minutes.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5724144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57241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51560" y="5687568"/>
            <a:ext cx="107899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1560" y="5687568"/>
            <a:ext cx="4572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1234440" y="57607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 &amp; audit trail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34440" y="612648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sees a success message. Attendance is recorded with method "qr", and the action is logged in the audit trail.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ANALYTICS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built into every layer.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real-time emotion detection to predictive risk scoring — AI powers the entire platform.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1874520"/>
            <a:ext cx="3749040" cy="22128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874520"/>
            <a:ext cx="3749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9842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😊 Real-Time Emotion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2404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8 emotion categories: happy, neutral, confused, bored, surprise, sad, angry, fear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27980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Per-student, per-lecture tracking with confidence scores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31912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Shown live to lecturer during session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3584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Trend analysis over the semester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33672" y="1874520"/>
            <a:ext cx="3749040" cy="22128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3672" y="1874520"/>
            <a:ext cx="37490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370832" y="19842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👁️ Attention &amp; Engagement Scoring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70832" y="2404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Attention score 0–100 per student per lecture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70832" y="27980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Engagement percentage with class-average comparison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70832" y="31912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14-lecture trend line chart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70832" y="3584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Seeded deterministically — consistent across sessions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11312" y="1874520"/>
            <a:ext cx="3749040" cy="22128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11312" y="1874520"/>
            <a:ext cx="3749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348472" y="19842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AI Topic Difficulty Detector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48472" y="2404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Analyses confusion spikes during lecture recordings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48472" y="27980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Flags timestamp when confusion rate exceeds threshold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48472" y="31912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Surfaces difficult topics to lecturer dashboard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48472" y="3584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Helps lecturers prioritise revision sessions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4206240"/>
            <a:ext cx="3749040" cy="22128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4206240"/>
            <a:ext cx="3749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43159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At-Risk Scoring Engine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" y="4736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4-tier risk classification: critical, high, medium, low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" y="5129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Based on attendance rate, GPA trend, and engagement score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3192" y="55229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Admin dashboard showing all at-risk students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3192" y="5916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Intervention action tracking per student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33672" y="4206240"/>
            <a:ext cx="3749040" cy="22128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33672" y="4206240"/>
            <a:ext cx="3749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4370832" y="43159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AI Insights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70832" y="4736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Class-wide emotion distribution pie chart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70832" y="5129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Engagement trend across the last 14 lectures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70832" y="55229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Grade prediction engine based on attendance + engagement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70832" y="5916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At-risk student identification summary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11312" y="4206240"/>
            <a:ext cx="3749040" cy="22128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1312" y="4206240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8348472" y="43159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 Analysis Statistical Reports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48472" y="4736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Grade distribution histograms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48472" y="5129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Attendance vs performance correlation analysis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48472" y="55229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Department-level comparison charts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48472" y="5916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Available to both lecturers and admins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scale.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proven technologies chosen for performance, security, and long-term maintainability.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1828800"/>
            <a:ext cx="37490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828800"/>
            <a:ext cx="3749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920240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230428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3225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5786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framework — component-based SPA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" y="288950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94436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29626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21868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tool — sub-second HMR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0624" y="352958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58444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🎬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36027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85876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Animations — page transitions, micro-interactions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" y="416966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422452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42428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49884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 — engagement, emotion, trends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" y="480974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86460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2960" y="4882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jsPDF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1389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PDF transcript generation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0624" y="544982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550468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22960" y="55229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qrcode.react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7790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 rendering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0624" y="608990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614476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2960" y="61630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EmailJS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641908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delivery — no SMTP server needed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33672" y="1828800"/>
            <a:ext cx="37490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33672" y="1828800"/>
            <a:ext cx="3749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398264" y="1920240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98264" y="230428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🐍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800600" y="23225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(Python 3.10)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0600" y="25786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framework — async, OpenAPI docs auto-generated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98264" y="288950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98264" y="294436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4800600" y="29626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→ PostgreSQL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00600" y="321868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— scale up when needed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398264" y="352958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98264" y="358444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4800600" y="36027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+ bcrypt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385876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— token signing + password hashing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98264" y="416966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98264" y="422452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4800600" y="42428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Pydantic v2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00600" y="449884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Request/response validation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398264" y="480974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98264" y="486460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4800600" y="4882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Uvicorn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00600" y="51389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ASGI server — production grade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398264" y="544982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98264" y="550468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4800600" y="55229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aiosqlite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00600" y="57790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database driver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211312" y="1828800"/>
            <a:ext cx="37490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11312" y="1828800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1920240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375904" y="230428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1700" dirty="0"/>
          </a:p>
        </p:txBody>
      </p:sp>
      <p:sp>
        <p:nvSpPr>
          <p:cNvPr id="67" name="Text 65"/>
          <p:cNvSpPr/>
          <p:nvPr/>
        </p:nvSpPr>
        <p:spPr>
          <a:xfrm>
            <a:off x="8778240" y="23225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Hostinger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778240" y="25786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static hosting + HTTPS/TLS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375904" y="288950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75904" y="294436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🚂</a:t>
            </a:r>
            <a:endParaRPr lang="en-US" sz="1700" dirty="0"/>
          </a:p>
        </p:txBody>
      </p:sp>
      <p:sp>
        <p:nvSpPr>
          <p:cNvPr id="71" name="Text 69"/>
          <p:cNvSpPr/>
          <p:nvPr/>
        </p:nvSpPr>
        <p:spPr>
          <a:xfrm>
            <a:off x="8778240" y="29626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778240" y="321868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 hosting (recommended)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375904" y="352958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75904" y="358444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</a:t>
            </a:r>
            <a:endParaRPr lang="en-US" sz="1700" dirty="0"/>
          </a:p>
        </p:txBody>
      </p:sp>
      <p:sp>
        <p:nvSpPr>
          <p:cNvPr id="75" name="Text 73"/>
          <p:cNvSpPr/>
          <p:nvPr/>
        </p:nvSpPr>
        <p:spPr>
          <a:xfrm>
            <a:off x="8778240" y="36027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778240" y="385876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alternative — render.yaml included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375904" y="416966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75904" y="422452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</a:t>
            </a:r>
            <a:endParaRPr lang="en-US" sz="1700" dirty="0"/>
          </a:p>
        </p:txBody>
      </p:sp>
      <p:sp>
        <p:nvSpPr>
          <p:cNvPr id="79" name="Text 77"/>
          <p:cNvSpPr/>
          <p:nvPr/>
        </p:nvSpPr>
        <p:spPr>
          <a:xfrm>
            <a:off x="8778240" y="42428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/ HTTPS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778240" y="449884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traffic encrypted in transit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375904" y="480974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75904" y="486460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</a:t>
            </a:r>
            <a:endParaRPr lang="en-US" sz="1700" dirty="0"/>
          </a:p>
        </p:txBody>
      </p:sp>
      <p:sp>
        <p:nvSpPr>
          <p:cNvPr id="83" name="Text 81"/>
          <p:cNvSpPr/>
          <p:nvPr/>
        </p:nvSpPr>
        <p:spPr>
          <a:xfrm>
            <a:off x="8778240" y="48828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 Ready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778240" y="51389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assets served globally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protected today — and what's ready for production.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by design in demo mode. Full enterprise security unlocked when the backend is connected.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1737360"/>
            <a:ext cx="557784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737360"/>
            <a:ext cx="55778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828800"/>
            <a:ext cx="5248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ACTIVE NOW (DEMO)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258568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HTTPS / TLS on Hostinger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230428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2788920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  React automatic XSS protection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28346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" y="3319272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 Login rate limiting — 5 attempts → 30s lockout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0" y="336499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3849624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Full audit log for every data change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389534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4379976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🗝️  No SMTP credentials anywhere in the codebase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442569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" y="4910328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.env excluded from git repository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495604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5440680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Sessions reset on browser close (no stale auth)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0" y="54864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" y="5971032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QR sessions expire after 90 minutes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0" y="601675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199632" y="1737360"/>
            <a:ext cx="557784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1737360"/>
            <a:ext cx="55778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364224" y="1828800"/>
            <a:ext cx="5248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 WITH BACKEND CONNECTED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64224" y="2258568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 JWT token authentication (HS256)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1430000" y="2304288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364224" y="2788920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bcrypt password hashing (cost 12)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1430000" y="283464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364224" y="3319272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Server-side session expiry (configurable)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430000" y="3364992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364224" y="3849624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🚦  API-level rate limiting per endpoint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1430000" y="3895344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364224" y="4379976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Role-based access control (RBAC)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430000" y="4425696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6364224" y="4910328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 All data server-side — no localStorage exposure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1430000" y="4956048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6364224" y="5440680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SQL injection protection (Pydantic + ORM)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1430000" y="548640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6364224" y="5971032"/>
            <a:ext cx="5248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🔏  CORS allowlist — only approved origins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1430000" y="6016752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clear path from demo to production SaaS.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phases — each delivering a fully working, deployable product.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1719072"/>
            <a:ext cx="658368" cy="6583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7190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85216" y="2377440"/>
            <a:ext cx="0" cy="5486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664208"/>
            <a:ext cx="107899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" y="1664208"/>
            <a:ext cx="54864" cy="1170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173736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— Complete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235440" y="1755648"/>
            <a:ext cx="2468880" cy="27432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61872" y="212140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Multi-role React portal (Student, Lecturer, Admin, Parent)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61872" y="237744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Cross-device QR attendance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61872" y="263347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Real-time emotion &amp; attention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56832" y="212140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Grade appeals, office hours, PDF transcript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56832" y="237744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Arabic RTL, onboarding tour, audit log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56832" y="263347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Login rate limiting, session isolation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658368" cy="6583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" y="298094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85216" y="3639312"/>
            <a:ext cx="0" cy="5486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2926080"/>
            <a:ext cx="107899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992" y="2926080"/>
            <a:ext cx="54864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1261872" y="29992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— Backend Integration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235440" y="3017520"/>
            <a:ext cx="2468880" cy="274320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3017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1–2 months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261872" y="338328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Connect FastAPI backend to frontend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61872" y="363931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PostgreSQL persistent multi-user database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61872" y="389534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JWT authentication replacing client-side auth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56832" y="338328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Real-time data sync across all devices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56832" y="363931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Deploy to Railway or Render (configs ready)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4242816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" y="4242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585216" y="4901184"/>
            <a:ext cx="0" cy="5486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187952"/>
            <a:ext cx="107899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8992" y="4187952"/>
            <a:ext cx="54864" cy="1170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1261872" y="426110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— Live AI Camera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9235440" y="4279392"/>
            <a:ext cx="2468880" cy="27432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4279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2–4 months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61872" y="464515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Live webcam emotion detection per student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261872" y="490118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TensorFlow.js (browser) or server model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261872" y="515721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Automated per-lecture engagement scoring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56832" y="464515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Proctor alert system for suspicious behaviour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56832" y="490118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Biometric face registration for attendance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550468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256032" y="55046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900" dirty="0"/>
          </a:p>
        </p:txBody>
      </p:sp>
      <p:sp>
        <p:nvSpPr>
          <p:cNvPr id="49" name="Shape 47"/>
          <p:cNvSpPr/>
          <p:nvPr/>
        </p:nvSpPr>
        <p:spPr>
          <a:xfrm>
            <a:off x="1078992" y="5449824"/>
            <a:ext cx="1078992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8992" y="5449824"/>
            <a:ext cx="54864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1261872" y="552297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 — SaaS Platform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9235440" y="5541264"/>
            <a:ext cx="2468880" cy="27432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35440" y="55412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4–8 months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261872" y="590702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Multi-tenant: one instance, many universities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261872" y="616305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Subdomain routing per institution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261872" y="641908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Stripe subscription billing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656832" y="590702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iOS + Android mobile apps (React Native)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56832" y="616305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LMS integration: Moodle, Blackboard, Canvas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transparent pricing.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Licensed per institution. No per-student fees within tier limits.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1737360"/>
            <a:ext cx="374904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737360"/>
            <a:ext cx="374904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883664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/ PILOT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2176272"/>
            <a:ext cx="3419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20624" y="2834640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evaluation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0624" y="316382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3273552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Full feature access (demo data)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3712464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All 4 portals ready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4151376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Frontend on Hostinger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0624" y="4590288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Suitable for client presentations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624" y="502920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Quick 5-minute walkthrough setup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33672" y="1737360"/>
            <a:ext cx="374904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672" y="1737360"/>
            <a:ext cx="3749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5352" y="1783080"/>
            <a:ext cx="1645920" cy="3017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178308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98264" y="1883664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98264" y="2176272"/>
            <a:ext cx="3419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$2,500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398264" y="2834640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One-time · up to 1,000 students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98264" y="316382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98264" y="3273552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Complete source code delivery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98264" y="3712464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Backend deployment on Railway/Render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98264" y="4151376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Real PostgreSQL database + JWT auth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98264" y="4590288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6 months support &amp; updates included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98264" y="502920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Custom logo &amp; institutional branding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98264" y="5468112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Staff training session (2 hours)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98264" y="5907024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Arabic RTL support included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98264" y="6345936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All 40+ features unlocked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11312" y="1737360"/>
            <a:ext cx="374904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1312" y="1737360"/>
            <a:ext cx="37490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8375904" y="1883664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375904" y="2176272"/>
            <a:ext cx="3419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8375904" y="2834640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Multi-campus or SaaS deployment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375904" y="3163824"/>
            <a:ext cx="341985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75904" y="3273552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Everything in Institution tier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75904" y="3712464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Multi-tenant architecture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375904" y="4151376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AI camera integration (Phase 3)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375904" y="4590288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Custom feature development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75904" y="5029200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SLA + priority support contract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75904" y="5468112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Mobile apps (iOS + Android)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375904" y="5907024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LMS integration (Moodle / Canvas)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75904" y="6345936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White-label per institution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200400"/>
            <a:ext cx="3657600" cy="3657600"/>
          </a:xfrm>
          <a:prstGeom prst="ellipse">
            <a:avLst/>
          </a:prstGeom>
          <a:solidFill>
            <a:srgbClr val="06B6D4">
              <a:alpha val="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1554480"/>
            <a:ext cx="1219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EduSense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0" y="2743200"/>
            <a:ext cx="1219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University Management System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0" y="3337560"/>
            <a:ext cx="3044952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3657600"/>
            <a:ext cx="1219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edusense.hostinger.com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0" y="4224528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available now — all 4 portals, 40+ features, English &amp; Arabic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4846320"/>
            <a:ext cx="278892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49377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Student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" y="5230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231014184.0 / WGaub52Z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" y="550468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role card to auto-fill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82112" y="4846320"/>
            <a:ext cx="278892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49377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👨‍🏫 Lecturer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9272" y="5230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dr.ahmed / Ahmed@2024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9272" y="550468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role card to auto-fill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08192" y="4846320"/>
            <a:ext cx="278892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49377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Admin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45352" y="5230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/ Admin@EduSense2025!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5352" y="550468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role card to auto-fill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034272" y="4846320"/>
            <a:ext cx="2788920" cy="1536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49377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👨‍👩‍👧 Parent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71432" y="523036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/ Parent@EduSense2025!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71432" y="550468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role card to auto-fill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0" y="6492240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2025 EduSense · Confidential — prepared for client 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2026-05-20T19:49:17Z</dcterms:created>
  <dcterms:modified xsi:type="dcterms:W3CDTF">2026-05-20T19:49:17Z</dcterms:modified>
</cp:coreProperties>
</file>